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200400"/>
            <a:ext cx="3840480" cy="3840480"/>
          </a:xfrm>
          <a:prstGeom prst="ellipse">
            <a:avLst/>
          </a:prstGeom>
          <a:solidFill>
            <a:srgbClr val="4A8B2A">
              <a:alpha val="45000"/>
            </a:srgbClr>
          </a:solidFill>
          <a:ln w="12700">
            <a:solidFill>
              <a:srgbClr val="4A8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0" y="-1097280"/>
            <a:ext cx="2743200" cy="2743200"/>
          </a:xfrm>
          <a:prstGeom prst="ellipse">
            <a:avLst/>
          </a:prstGeom>
          <a:solidFill>
            <a:srgbClr val="A8D57F">
              <a:alpha val="35000"/>
            </a:srgbClr>
          </a:solidFill>
          <a:ln w="12700">
            <a:solidFill>
              <a:srgbClr val="A8D5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320040"/>
            <a:ext cx="1828800" cy="1828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365760"/>
            <a:ext cx="1737360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Said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Olano Garcia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731520" y="3383280"/>
            <a:ext cx="2651760" cy="36576"/>
          </a:xfrm>
          <a:prstGeom prst="rect">
            <a:avLst/>
          </a:prstGeom>
          <a:solidFill>
            <a:srgbClr val="D4EDBA"/>
          </a:solidFill>
          <a:ln/>
        </p:spPr>
      </p:sp>
      <p:sp>
        <p:nvSpPr>
          <p:cNvPr id="9" name="Text 6"/>
          <p:cNvSpPr/>
          <p:nvPr/>
        </p:nvSpPr>
        <p:spPr>
          <a:xfrm>
            <a:off x="91440" y="345643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E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Software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D4E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Manager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434840" y="4572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presenter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434840" y="1005840"/>
            <a:ext cx="256032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2" name="Shape 9"/>
          <p:cNvSpPr/>
          <p:nvPr/>
        </p:nvSpPr>
        <p:spPr>
          <a:xfrm>
            <a:off x="4434840" y="1188720"/>
            <a:ext cx="475488" cy="475488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1252728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47488" y="12435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josesaid@gmail.com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434840" y="1847088"/>
            <a:ext cx="475488" cy="475488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568" y="191109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47488" y="19019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linkedin.com/in/josesaid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434840" y="2505456"/>
            <a:ext cx="475488" cy="475488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569464"/>
            <a:ext cx="338328" cy="33832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47488" y="25603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· Java · Microservices · AWS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434840" y="3291840"/>
            <a:ext cx="4434840" cy="1691640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434840" y="3291840"/>
            <a:ext cx="54864" cy="169164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3" name="Text 17"/>
          <p:cNvSpPr/>
          <p:nvPr/>
        </p:nvSpPr>
        <p:spPr>
          <a:xfrm>
            <a:off x="4617720" y="3364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presentation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617720" y="3749040"/>
            <a:ext cx="4160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exploration of Spring AI 1.0 GA: fundamentals, ChatClient, RAG, Agents, Advisors, Memory, ETL Pipeline, Ollama, Observability, MCP and Testing. Real Java code in every slide.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4A8B2A">
              <a:alpha val="40000"/>
            </a:srgbClr>
          </a:solidFill>
          <a:ln w="12700">
            <a:solidFill>
              <a:srgbClr val="4A8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914400"/>
            <a:ext cx="2560320" cy="2560320"/>
          </a:xfrm>
          <a:prstGeom prst="ellipse">
            <a:avLst/>
          </a:prstGeom>
          <a:solidFill>
            <a:srgbClr val="A8D57F">
              <a:alpha val="35000"/>
            </a:srgbClr>
          </a:solidFill>
          <a:ln w="12700">
            <a:solidFill>
              <a:srgbClr val="A8D57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4572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166420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640080" y="2807208"/>
            <a:ext cx="2560320" cy="45720"/>
          </a:xfrm>
          <a:prstGeom prst="rect">
            <a:avLst/>
          </a:prstGeom>
          <a:solidFill>
            <a:srgbClr val="D4EDBA"/>
          </a:solidFill>
          <a:ln/>
        </p:spPr>
      </p:sp>
      <p:sp>
        <p:nvSpPr>
          <p:cNvPr id="8" name="Text 5"/>
          <p:cNvSpPr/>
          <p:nvPr/>
        </p:nvSpPr>
        <p:spPr>
          <a:xfrm>
            <a:off x="182880" y="290779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7F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for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7F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Spring Ecosystem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E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1.0 GA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0" y="822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114800" y="1344168"/>
            <a:ext cx="228600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2" name="Text 9"/>
          <p:cNvSpPr/>
          <p:nvPr/>
        </p:nvSpPr>
        <p:spPr>
          <a:xfrm>
            <a:off x="4114800" y="14813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is Spring AI?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537960" y="14813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Architecture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114800" y="18562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ChatClient &amp; Chat Models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537960" y="18562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Templates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114800" y="22311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Output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537960" y="22311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 &amp; Vector Stores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114800" y="26060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Models &amp; Providers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37960" y="26060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Agents &amp; Tool Calling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114800" y="298094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Advisors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537960" y="298094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 Memory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114800" y="33558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ETL Pipeline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537960" y="33558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Models (Ollama)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114800" y="37307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Observability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537960" y="37307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MCP Protocol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114800" y="41056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Testing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537960" y="410565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Multimodality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114800" y="4480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Practices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537960" y="4480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Conclusions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Spring AI?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87552"/>
            <a:ext cx="4160520" cy="176479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87552"/>
            <a:ext cx="54864" cy="176479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7" name="Shape 4"/>
          <p:cNvSpPr/>
          <p:nvPr/>
        </p:nvSpPr>
        <p:spPr>
          <a:xfrm>
            <a:off x="438912" y="1490472"/>
            <a:ext cx="621792" cy="621792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484632" cy="4846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15214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88720" y="1554480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that simplifies building Generative AI applications in the Spring/Java ecosystem.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709160" y="987552"/>
            <a:ext cx="4160520" cy="176479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09160" y="987552"/>
            <a:ext cx="54864" cy="176479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3" name="Shape 9"/>
          <p:cNvSpPr/>
          <p:nvPr/>
        </p:nvSpPr>
        <p:spPr>
          <a:xfrm>
            <a:off x="4873752" y="1490472"/>
            <a:ext cx="621792" cy="621792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554480"/>
            <a:ext cx="484632" cy="4846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23560" y="115214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623560" y="1554480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LangChain and LlamaIndex (Python), but designed natively for Java enterprise.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274320" y="2971800"/>
            <a:ext cx="4160520" cy="176479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274320" y="2971800"/>
            <a:ext cx="54864" cy="176479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9" name="Shape 14"/>
          <p:cNvSpPr/>
          <p:nvPr/>
        </p:nvSpPr>
        <p:spPr>
          <a:xfrm>
            <a:off x="438912" y="3474720"/>
            <a:ext cx="621792" cy="621792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538728"/>
            <a:ext cx="484632" cy="4846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31363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188720" y="3538728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Abstracts AI providers (OpenAI, Azure, Google…) with common, interchangeable interfaces.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709160" y="2971800"/>
            <a:ext cx="4160520" cy="176479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709160" y="2971800"/>
            <a:ext cx="54864" cy="176479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5" name="Shape 19"/>
          <p:cNvSpPr/>
          <p:nvPr/>
        </p:nvSpPr>
        <p:spPr>
          <a:xfrm>
            <a:off x="4873752" y="3474720"/>
            <a:ext cx="621792" cy="621792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538728"/>
            <a:ext cx="484632" cy="4846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23560" y="31363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623560" y="3538728"/>
            <a:ext cx="3154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natively with Spring Boot: auto-configuration, application.properties and starters.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Architecture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914400" y="960120"/>
            <a:ext cx="7315200" cy="749808"/>
          </a:xfrm>
          <a:prstGeom prst="rect">
            <a:avLst/>
          </a:prstGeom>
          <a:solidFill>
            <a:srgbClr val="4A8B2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96012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Spring Boot Application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407408" y="1709928"/>
            <a:ext cx="329184" cy="164592"/>
          </a:xfrm>
          <a:prstGeom prst="rect">
            <a:avLst/>
          </a:prstGeom>
          <a:solidFill>
            <a:srgbClr val="A8D57F"/>
          </a:solidFill>
          <a:ln/>
        </p:spPr>
      </p:sp>
      <p:sp>
        <p:nvSpPr>
          <p:cNvPr id="8" name="Text 5"/>
          <p:cNvSpPr/>
          <p:nvPr/>
        </p:nvSpPr>
        <p:spPr>
          <a:xfrm>
            <a:off x="4407408" y="17099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4400" y="1874520"/>
            <a:ext cx="7315200" cy="749808"/>
          </a:xfrm>
          <a:prstGeom prst="rect">
            <a:avLst/>
          </a:prstGeom>
          <a:solidFill>
            <a:srgbClr val="6DB33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4400" y="187452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Core  ·  ChatClient  ·  PromptTemplate  ·  VectorStore  ·  Advisors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07408" y="2624328"/>
            <a:ext cx="329184" cy="164592"/>
          </a:xfrm>
          <a:prstGeom prst="rect">
            <a:avLst/>
          </a:prstGeom>
          <a:solidFill>
            <a:srgbClr val="A8D57F"/>
          </a:solidFill>
          <a:ln/>
        </p:spPr>
      </p:sp>
      <p:sp>
        <p:nvSpPr>
          <p:cNvPr id="12" name="Text 9"/>
          <p:cNvSpPr/>
          <p:nvPr/>
        </p:nvSpPr>
        <p:spPr>
          <a:xfrm>
            <a:off x="4407408" y="26243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" y="2788920"/>
            <a:ext cx="7315200" cy="749808"/>
          </a:xfrm>
          <a:prstGeom prst="rect">
            <a:avLst/>
          </a:prstGeom>
          <a:solidFill>
            <a:srgbClr val="2E9E7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14400" y="278892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Providers  ·  OpenAI  ·  Azure  ·  Vertex  ·  Bedrock  ·  Ollama…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0040" y="3730752"/>
            <a:ext cx="1536192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3730752"/>
            <a:ext cx="1536192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7" name="Shape 14"/>
          <p:cNvSpPr/>
          <p:nvPr/>
        </p:nvSpPr>
        <p:spPr>
          <a:xfrm>
            <a:off x="749808" y="3803904"/>
            <a:ext cx="676656" cy="676656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67912"/>
            <a:ext cx="521208" cy="5212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0040" y="452628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ChatClient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039112" y="3730752"/>
            <a:ext cx="1536192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039112" y="3730752"/>
            <a:ext cx="1536192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2" name="Shape 18"/>
          <p:cNvSpPr/>
          <p:nvPr/>
        </p:nvSpPr>
        <p:spPr>
          <a:xfrm>
            <a:off x="2468880" y="3803904"/>
            <a:ext cx="676656" cy="676656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3867912"/>
            <a:ext cx="521208" cy="5212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039112" y="452628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758184" y="3730752"/>
            <a:ext cx="1536192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758184" y="3730752"/>
            <a:ext cx="1536192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7" name="Shape 22"/>
          <p:cNvSpPr/>
          <p:nvPr/>
        </p:nvSpPr>
        <p:spPr>
          <a:xfrm>
            <a:off x="4187952" y="3803904"/>
            <a:ext cx="676656" cy="676656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1104" y="3867912"/>
            <a:ext cx="521208" cy="5212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758184" y="452628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477256" y="3730752"/>
            <a:ext cx="1536192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477256" y="3730752"/>
            <a:ext cx="1536192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2" name="Shape 26"/>
          <p:cNvSpPr/>
          <p:nvPr/>
        </p:nvSpPr>
        <p:spPr>
          <a:xfrm>
            <a:off x="5907024" y="3803904"/>
            <a:ext cx="676656" cy="676656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3867912"/>
            <a:ext cx="521208" cy="52120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477256" y="452628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7196328" y="3730752"/>
            <a:ext cx="1536192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7196328" y="3730752"/>
            <a:ext cx="1536192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7" name="Shape 30"/>
          <p:cNvSpPr/>
          <p:nvPr/>
        </p:nvSpPr>
        <p:spPr>
          <a:xfrm>
            <a:off x="7626096" y="3803904"/>
            <a:ext cx="676656" cy="676656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9248" y="3867912"/>
            <a:ext cx="521208" cy="52120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196328" y="452628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Client &amp; Chat Model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60120"/>
            <a:ext cx="3886200" cy="3977640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789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ChatClient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Fluent, portable API to interact with any LLM: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1965960"/>
            <a:ext cx="3520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and streaming responses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System, user and assistant messages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for pre/post-processing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support (text + image)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@Autowired ready with Spring Boot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960120"/>
            <a:ext cx="4526280" cy="3977640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960120"/>
            <a:ext cx="452628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1" name="Shape 8"/>
          <p:cNvSpPr/>
          <p:nvPr/>
        </p:nvSpPr>
        <p:spPr>
          <a:xfrm>
            <a:off x="4480560" y="105156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2" name="Shape 9"/>
          <p:cNvSpPr/>
          <p:nvPr/>
        </p:nvSpPr>
        <p:spPr>
          <a:xfrm>
            <a:off x="4663440" y="105156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3" name="Shape 10"/>
          <p:cNvSpPr/>
          <p:nvPr/>
        </p:nvSpPr>
        <p:spPr>
          <a:xfrm>
            <a:off x="4846320" y="105156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4" name="Text 11"/>
          <p:cNvSpPr/>
          <p:nvPr/>
        </p:nvSpPr>
        <p:spPr>
          <a:xfrm>
            <a:off x="4507992" y="1289304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@Autowired ChatClient chatClient;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07992" y="1755648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Simple response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07992" y="1988820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r = chatClient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07992" y="2221992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.prompt()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07992" y="2455164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.user("What is Spring AI?")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07992" y="2688336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.call().content();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07992" y="3154680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Streaming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07992" y="3387852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chatClient.prompt()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07992" y="3621024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.user("Explain step by step")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07992" y="3854196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.stream()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07992" y="4087368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.content()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07992" y="4320540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.subscribe(out::println);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6012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601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7" name="Shape 4"/>
          <p:cNvSpPr/>
          <p:nvPr/>
        </p:nvSpPr>
        <p:spPr>
          <a:xfrm>
            <a:off x="1298448" y="10698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1152144"/>
            <a:ext cx="521208" cy="5212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4048" y="18745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PromptTemplate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11480" y="2276856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prompts with {placeholder} variables. Separates prompt text from business logic.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0" y="96012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9601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3" name="Shape 9"/>
          <p:cNvSpPr/>
          <p:nvPr/>
        </p:nvSpPr>
        <p:spPr>
          <a:xfrm>
            <a:off x="4224528" y="10698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152144"/>
            <a:ext cx="521208" cy="5212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10128" y="18745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User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337560" y="2276856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system messages (role/behavior) with user messages to control context.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126480" y="96012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126480" y="9601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9" name="Shape 14"/>
          <p:cNvSpPr/>
          <p:nvPr/>
        </p:nvSpPr>
        <p:spPr>
          <a:xfrm>
            <a:off x="7150608" y="10698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1152144"/>
            <a:ext cx="521208" cy="5212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36208" y="18745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 Files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263640" y="2276856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loaded from classpath as StringTemplate files — no recompilation needed.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274320" y="3200400"/>
            <a:ext cx="8595360" cy="1828800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74320" y="3200400"/>
            <a:ext cx="859536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5" name="Shape 19"/>
          <p:cNvSpPr/>
          <p:nvPr/>
        </p:nvSpPr>
        <p:spPr>
          <a:xfrm>
            <a:off x="411480" y="329184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6" name="Shape 20"/>
          <p:cNvSpPr/>
          <p:nvPr/>
        </p:nvSpPr>
        <p:spPr>
          <a:xfrm>
            <a:off x="594360" y="329184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7" name="Shape 21"/>
          <p:cNvSpPr/>
          <p:nvPr/>
        </p:nvSpPr>
        <p:spPr>
          <a:xfrm>
            <a:off x="777240" y="329184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8" name="Text 22"/>
          <p:cNvSpPr/>
          <p:nvPr/>
        </p:nvSpPr>
        <p:spPr>
          <a:xfrm>
            <a:off x="438912" y="352958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PromptTemplate pt = new PromptTemplate(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38912" y="376275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"Translate {text} to {language}");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38912" y="3995928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p = pt.create(Map.of("text","Hello","language","fr"));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38912" y="4462272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System + User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38912" y="469544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chatClient.prompt().system("You are a Java expert")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38912" y="492861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.user("Explain records").call();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automatically converts LLM responses into typed Java objects — no manual parsing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435608"/>
            <a:ext cx="1828800" cy="713232"/>
          </a:xfrm>
          <a:prstGeom prst="rect">
            <a:avLst/>
          </a:prstGeom>
          <a:solidFill>
            <a:srgbClr val="4A8B2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43560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86000" y="153619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560320" y="1435608"/>
            <a:ext cx="1828800" cy="713232"/>
          </a:xfrm>
          <a:prstGeom prst="rect">
            <a:avLst/>
          </a:prstGeom>
          <a:solidFill>
            <a:srgbClr val="2E9E7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60320" y="143560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389120" y="153619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663440" y="1435608"/>
            <a:ext cx="1828800" cy="713232"/>
          </a:xfrm>
          <a:prstGeom prst="rect">
            <a:avLst/>
          </a:prstGeom>
          <a:solidFill>
            <a:srgbClr val="6DB33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63440" y="143560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Converter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92240" y="153619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766560" y="1435608"/>
            <a:ext cx="1828800" cy="713232"/>
          </a:xfrm>
          <a:prstGeom prst="rect">
            <a:avLst/>
          </a:prstGeom>
          <a:solidFill>
            <a:srgbClr val="4A8B2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66560" y="143560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Object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74320" y="2331720"/>
            <a:ext cx="8595360" cy="2697480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331720"/>
            <a:ext cx="859536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9" name="Shape 16"/>
          <p:cNvSpPr/>
          <p:nvPr/>
        </p:nvSpPr>
        <p:spPr>
          <a:xfrm>
            <a:off x="411480" y="242316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" y="242316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242316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2" name="Text 19"/>
          <p:cNvSpPr/>
          <p:nvPr/>
        </p:nvSpPr>
        <p:spPr>
          <a:xfrm>
            <a:off x="438912" y="266090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Define your Java Record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38912" y="289407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 Actor(String name, List&lt;String&gt; movies) {}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38912" y="3360420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Spring AI parses automatically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38912" y="3593592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 actor = chatClient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38912" y="382676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.prompt("Info about Keanu Reeves")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38912" y="405993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.call()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38912" y="4293108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.entity(Actor.class);  // no manual Jackson!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38912" y="4759452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Also: List&lt;T&gt;  ·  Map&lt;K,V&gt;  ·  BeanOutputConverter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Vector Stores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Augmented Generation — Enrich responses with your own data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371600"/>
            <a:ext cx="1536192" cy="1005840"/>
          </a:xfrm>
          <a:prstGeom prst="rect">
            <a:avLst/>
          </a:prstGeom>
          <a:solidFill>
            <a:srgbClr val="4A8B2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32688" y="1417320"/>
            <a:ext cx="502920" cy="502920"/>
          </a:xfrm>
          <a:prstGeom prst="ellipse">
            <a:avLst/>
          </a:prstGeom>
          <a:solidFill>
            <a:srgbClr val="D4EDBA"/>
          </a:solidFill>
          <a:ln/>
        </p:spPr>
      </p:sp>
      <p:sp>
        <p:nvSpPr>
          <p:cNvPr id="8" name="Text 5"/>
          <p:cNvSpPr/>
          <p:nvPr/>
        </p:nvSpPr>
        <p:spPr>
          <a:xfrm>
            <a:off x="932688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1947672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947672" y="1572768"/>
            <a:ext cx="173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121408" y="1371600"/>
            <a:ext cx="1536192" cy="1005840"/>
          </a:xfrm>
          <a:prstGeom prst="rect">
            <a:avLst/>
          </a:prstGeom>
          <a:solidFill>
            <a:srgbClr val="6DB33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42616" y="1417320"/>
            <a:ext cx="502920" cy="502920"/>
          </a:xfrm>
          <a:prstGeom prst="ellipse">
            <a:avLst/>
          </a:prstGeom>
          <a:solidFill>
            <a:srgbClr val="D4EDBA"/>
          </a:solidFill>
          <a:ln/>
        </p:spPr>
      </p:sp>
      <p:sp>
        <p:nvSpPr>
          <p:cNvPr id="13" name="Text 10"/>
          <p:cNvSpPr/>
          <p:nvPr/>
        </p:nvSpPr>
        <p:spPr>
          <a:xfrm>
            <a:off x="2642616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121408" y="1947672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57600" y="1572768"/>
            <a:ext cx="173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831336" y="1371600"/>
            <a:ext cx="1536192" cy="1005840"/>
          </a:xfrm>
          <a:prstGeom prst="rect">
            <a:avLst/>
          </a:prstGeom>
          <a:solidFill>
            <a:srgbClr val="2E9E7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52544" y="1417320"/>
            <a:ext cx="502920" cy="502920"/>
          </a:xfrm>
          <a:prstGeom prst="ellipse">
            <a:avLst/>
          </a:prstGeom>
          <a:solidFill>
            <a:srgbClr val="D4EDBA"/>
          </a:solidFill>
          <a:ln/>
        </p:spPr>
      </p:sp>
      <p:sp>
        <p:nvSpPr>
          <p:cNvPr id="18" name="Text 15"/>
          <p:cNvSpPr/>
          <p:nvPr/>
        </p:nvSpPr>
        <p:spPr>
          <a:xfrm>
            <a:off x="4352544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831336" y="1947672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367528" y="1572768"/>
            <a:ext cx="173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541264" y="1371600"/>
            <a:ext cx="1536192" cy="1005840"/>
          </a:xfrm>
          <a:prstGeom prst="rect">
            <a:avLst/>
          </a:prstGeom>
          <a:solidFill>
            <a:srgbClr val="6DB33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062472" y="1417320"/>
            <a:ext cx="502920" cy="502920"/>
          </a:xfrm>
          <a:prstGeom prst="ellipse">
            <a:avLst/>
          </a:prstGeom>
          <a:solidFill>
            <a:srgbClr val="D4EDBA"/>
          </a:solidFill>
          <a:ln/>
        </p:spPr>
      </p:sp>
      <p:sp>
        <p:nvSpPr>
          <p:cNvPr id="23" name="Text 20"/>
          <p:cNvSpPr/>
          <p:nvPr/>
        </p:nvSpPr>
        <p:spPr>
          <a:xfrm>
            <a:off x="6062472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541264" y="1947672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077456" y="1572768"/>
            <a:ext cx="173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251192" y="1371600"/>
            <a:ext cx="1536192" cy="1005840"/>
          </a:xfrm>
          <a:prstGeom prst="rect">
            <a:avLst/>
          </a:prstGeom>
          <a:solidFill>
            <a:srgbClr val="4A8B2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772400" y="1417320"/>
            <a:ext cx="502920" cy="502920"/>
          </a:xfrm>
          <a:prstGeom prst="ellipse">
            <a:avLst/>
          </a:prstGeom>
          <a:solidFill>
            <a:srgbClr val="D4EDBA"/>
          </a:solidFill>
          <a:ln/>
        </p:spPr>
      </p:sp>
      <p:sp>
        <p:nvSpPr>
          <p:cNvPr id="28" name="Text 25"/>
          <p:cNvSpPr/>
          <p:nvPr/>
        </p:nvSpPr>
        <p:spPr>
          <a:xfrm>
            <a:off x="77724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251192" y="1947672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65760" y="254203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Vector Stores: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365760" y="2944368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65760" y="2944368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3" name="Text 30"/>
          <p:cNvSpPr/>
          <p:nvPr/>
        </p:nvSpPr>
        <p:spPr>
          <a:xfrm>
            <a:off x="475488" y="29443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2514600" y="2944368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2514600" y="2944368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6" name="Text 33"/>
          <p:cNvSpPr/>
          <p:nvPr/>
        </p:nvSpPr>
        <p:spPr>
          <a:xfrm>
            <a:off x="2624328" y="29443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663440" y="2944368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663440" y="2944368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9" name="Text 36"/>
          <p:cNvSpPr/>
          <p:nvPr/>
        </p:nvSpPr>
        <p:spPr>
          <a:xfrm>
            <a:off x="4773168" y="29443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812280" y="2944368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812280" y="2944368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42" name="Text 39"/>
          <p:cNvSpPr/>
          <p:nvPr/>
        </p:nvSpPr>
        <p:spPr>
          <a:xfrm>
            <a:off x="6922008" y="29443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365760" y="3511296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365760" y="3511296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45" name="Text 42"/>
          <p:cNvSpPr/>
          <p:nvPr/>
        </p:nvSpPr>
        <p:spPr>
          <a:xfrm>
            <a:off x="475488" y="351129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2514600" y="3511296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2514600" y="3511296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48" name="Text 45"/>
          <p:cNvSpPr/>
          <p:nvPr/>
        </p:nvSpPr>
        <p:spPr>
          <a:xfrm>
            <a:off x="2624328" y="351129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4663440" y="3511296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4663440" y="3511296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51" name="Text 48"/>
          <p:cNvSpPr/>
          <p:nvPr/>
        </p:nvSpPr>
        <p:spPr>
          <a:xfrm>
            <a:off x="4773168" y="351129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6812280" y="3511296"/>
            <a:ext cx="1965960" cy="438912"/>
          </a:xfrm>
          <a:prstGeom prst="roundRect">
            <a:avLst>
              <a:gd name="adj" fmla="val 16667"/>
            </a:avLst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6812280" y="3511296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54" name="Text 51"/>
          <p:cNvSpPr/>
          <p:nvPr/>
        </p:nvSpPr>
        <p:spPr>
          <a:xfrm>
            <a:off x="6922008" y="351129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365760" y="4251960"/>
            <a:ext cx="8412480" cy="749808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365760" y="4251960"/>
            <a:ext cx="841248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57" name="Shape 54"/>
          <p:cNvSpPr/>
          <p:nvPr/>
        </p:nvSpPr>
        <p:spPr>
          <a:xfrm>
            <a:off x="502920" y="434340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58" name="Shape 55"/>
          <p:cNvSpPr/>
          <p:nvPr/>
        </p:nvSpPr>
        <p:spPr>
          <a:xfrm>
            <a:off x="685800" y="434340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59" name="Shape 56"/>
          <p:cNvSpPr/>
          <p:nvPr/>
        </p:nvSpPr>
        <p:spPr>
          <a:xfrm>
            <a:off x="868680" y="434340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60" name="Text 57"/>
          <p:cNvSpPr/>
          <p:nvPr/>
        </p:nvSpPr>
        <p:spPr>
          <a:xfrm>
            <a:off x="530352" y="4581144"/>
            <a:ext cx="80832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vectorStore.similaritySearch(SearchRequest.query("Java microservices").withTopK(5));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Providers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87552"/>
            <a:ext cx="4160520" cy="1764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87552"/>
            <a:ext cx="54864" cy="176479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7" name="Shape 4"/>
          <p:cNvSpPr/>
          <p:nvPr/>
        </p:nvSpPr>
        <p:spPr>
          <a:xfrm>
            <a:off x="438912" y="1490472"/>
            <a:ext cx="621792" cy="621792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484632" cy="4846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1704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88720" y="1609344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GPT-4o, Claude 3.5, Gemini Pro, Llama 3, Mistral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709160" y="987552"/>
            <a:ext cx="4160520" cy="1764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09160" y="987552"/>
            <a:ext cx="54864" cy="176479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3" name="Shape 9"/>
          <p:cNvSpPr/>
          <p:nvPr/>
        </p:nvSpPr>
        <p:spPr>
          <a:xfrm>
            <a:off x="4873752" y="1490472"/>
            <a:ext cx="621792" cy="621792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554480"/>
            <a:ext cx="484632" cy="4846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23560" y="11704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623560" y="1609344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text-embedding-3, Titan Embeddings, Nomic, MiniLM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274320" y="2971800"/>
            <a:ext cx="4160520" cy="1764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274320" y="2971800"/>
            <a:ext cx="54864" cy="176479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9" name="Shape 14"/>
          <p:cNvSpPr/>
          <p:nvPr/>
        </p:nvSpPr>
        <p:spPr>
          <a:xfrm>
            <a:off x="438912" y="3474720"/>
            <a:ext cx="621792" cy="621792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538728"/>
            <a:ext cx="484632" cy="4846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188720" y="359359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3, Stable Diffusion, Vertex Imagen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709160" y="2971800"/>
            <a:ext cx="4160520" cy="1764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709160" y="2971800"/>
            <a:ext cx="54864" cy="176479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5" name="Shape 19"/>
          <p:cNvSpPr/>
          <p:nvPr/>
        </p:nvSpPr>
        <p:spPr>
          <a:xfrm>
            <a:off x="4873752" y="3474720"/>
            <a:ext cx="621792" cy="621792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538728"/>
            <a:ext cx="484632" cy="4846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2356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&amp; Audio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623560" y="359359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Whisper, TTS — transcription and synthesis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solidFill>
            <a:srgbClr val="D4EDBA"/>
          </a:solidFill>
          <a:ln/>
        </p:spPr>
      </p:sp>
      <p:sp>
        <p:nvSpPr>
          <p:cNvPr id="30" name="Text 23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share the same interfaces — switching providers requires no code changes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Tool Calling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60120"/>
            <a:ext cx="3886200" cy="3977640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789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the LLM to call real Java functions at runtime: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1993392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methods with @Tool to expose them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 when and how to use them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and dynamic tools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use APIs, DBs and services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chained tool calls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960120"/>
            <a:ext cx="4526280" cy="3977640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960120"/>
            <a:ext cx="452628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1" name="Shape 8"/>
          <p:cNvSpPr/>
          <p:nvPr/>
        </p:nvSpPr>
        <p:spPr>
          <a:xfrm>
            <a:off x="4480560" y="105156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2" name="Shape 9"/>
          <p:cNvSpPr/>
          <p:nvPr/>
        </p:nvSpPr>
        <p:spPr>
          <a:xfrm>
            <a:off x="4663440" y="105156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3" name="Shape 10"/>
          <p:cNvSpPr/>
          <p:nvPr/>
        </p:nvSpPr>
        <p:spPr>
          <a:xfrm>
            <a:off x="4846320" y="105156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4" name="Text 11"/>
          <p:cNvSpPr/>
          <p:nvPr/>
        </p:nvSpPr>
        <p:spPr>
          <a:xfrm>
            <a:off x="4507992" y="1289304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Define a tool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07992" y="1522476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@Tool(description =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07992" y="1755648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"Current stock price")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07992" y="1988820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 getPrice(String ticker) {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07992" y="2221992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stockSvc.getPrice(ticker);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07992" y="2455164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07992" y="2921508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Register in ChatClient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07992" y="3154680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chatClient.prompt()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07992" y="3387852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.user("Analyze AAPL vs MSFT")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07992" y="3621024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.tools(new StockTools())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07992" y="3854196"/>
            <a:ext cx="41970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.call().content();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&amp; Interceptors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and modify conversation flow before and after the LLM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417320"/>
            <a:ext cx="1554480" cy="68580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1417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828800" y="153619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011680" y="1417320"/>
            <a:ext cx="1554480" cy="685800"/>
          </a:xfrm>
          <a:prstGeom prst="rect">
            <a:avLst/>
          </a:prstGeom>
          <a:solidFill>
            <a:srgbClr val="6DB33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11680" y="1417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(pre)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566160" y="153619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749040" y="1417320"/>
            <a:ext cx="1554480" cy="685800"/>
          </a:xfrm>
          <a:prstGeom prst="rect">
            <a:avLst/>
          </a:prstGeom>
          <a:solidFill>
            <a:srgbClr val="2E9E7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749040" y="1417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0" y="153619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0" y="1417320"/>
            <a:ext cx="1554480" cy="685800"/>
          </a:xfrm>
          <a:prstGeom prst="rect">
            <a:avLst/>
          </a:prstGeom>
          <a:solidFill>
            <a:srgbClr val="6DB33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486400" y="1417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(post)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040880" y="153619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223760" y="1417320"/>
            <a:ext cx="1554480" cy="68580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223760" y="14173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228600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228600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2" name="Shape 19"/>
          <p:cNvSpPr/>
          <p:nvPr/>
        </p:nvSpPr>
        <p:spPr>
          <a:xfrm>
            <a:off x="1298448" y="239572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2478024"/>
            <a:ext cx="521208" cy="5212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84048" y="320040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MessageChatMemoryAdvisor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11480" y="360273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injects conversation history into each prompt — transparent memory.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200400" y="228600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200400" y="228600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8" name="Shape 24"/>
          <p:cNvSpPr/>
          <p:nvPr/>
        </p:nvSpPr>
        <p:spPr>
          <a:xfrm>
            <a:off x="4224528" y="239572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2478024"/>
            <a:ext cx="521208" cy="52120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310128" y="320040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QuestionAnswerAdvisor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3337560" y="360273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RAG: queries the VectorStore and enriches the prompt context.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126480" y="228600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126480" y="228600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4" name="Shape 29"/>
          <p:cNvSpPr/>
          <p:nvPr/>
        </p:nvSpPr>
        <p:spPr>
          <a:xfrm>
            <a:off x="7150608" y="239572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2478024"/>
            <a:ext cx="521208" cy="52120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236208" y="320040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Advisor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6263640" y="360273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CallAroundAdvisor for logging, security, moderation or caching.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274320" y="4160520"/>
            <a:ext cx="8595360" cy="868680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274320" y="4160520"/>
            <a:ext cx="859536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40" name="Shape 34"/>
          <p:cNvSpPr/>
          <p:nvPr/>
        </p:nvSpPr>
        <p:spPr>
          <a:xfrm>
            <a:off x="411480" y="425196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41" name="Shape 35"/>
          <p:cNvSpPr/>
          <p:nvPr/>
        </p:nvSpPr>
        <p:spPr>
          <a:xfrm>
            <a:off x="594360" y="425196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42" name="Shape 36"/>
          <p:cNvSpPr/>
          <p:nvPr/>
        </p:nvSpPr>
        <p:spPr>
          <a:xfrm>
            <a:off x="777240" y="425196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43" name="Text 37"/>
          <p:cNvSpPr/>
          <p:nvPr/>
        </p:nvSpPr>
        <p:spPr>
          <a:xfrm>
            <a:off x="438912" y="448970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chatClient.prompt()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438912" y="472287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.advisors(new MessageChatMemoryAdvisor(mem), new QuestionAnswerAdvisor(vs))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438912" y="4956048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.user(query).call().content();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Memory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87552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87552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7" name="Shape 4"/>
          <p:cNvSpPr/>
          <p:nvPr/>
        </p:nvSpPr>
        <p:spPr>
          <a:xfrm>
            <a:off x="1298448" y="1097280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1179576"/>
            <a:ext cx="521208" cy="5212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4048" y="190195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InMemoryChatMemory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11480" y="230428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history in RAM. Ideal for development and PoC. Cleared on restart.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0" y="987552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987552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3" name="Shape 9"/>
          <p:cNvSpPr/>
          <p:nvPr/>
        </p:nvSpPr>
        <p:spPr>
          <a:xfrm>
            <a:off x="4224528" y="1097280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179576"/>
            <a:ext cx="521208" cy="5212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10128" y="190195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JdbcChatMemory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337560" y="230428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conversation in a relational DB via Spring JDBC. Production-ready.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126480" y="987552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126480" y="987552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9" name="Shape 14"/>
          <p:cNvSpPr/>
          <p:nvPr/>
        </p:nvSpPr>
        <p:spPr>
          <a:xfrm>
            <a:off x="7150608" y="1097280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1179576"/>
            <a:ext cx="521208" cy="5212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36208" y="190195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CassandraChatMemory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263640" y="230428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storage on Apache Cassandra for high availability.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274320" y="3127248"/>
            <a:ext cx="8595360" cy="1874520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74320" y="3127248"/>
            <a:ext cx="859536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5" name="Shape 19"/>
          <p:cNvSpPr/>
          <p:nvPr/>
        </p:nvSpPr>
        <p:spPr>
          <a:xfrm>
            <a:off x="411480" y="3218688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6" name="Shape 20"/>
          <p:cNvSpPr/>
          <p:nvPr/>
        </p:nvSpPr>
        <p:spPr>
          <a:xfrm>
            <a:off x="594360" y="3218688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7" name="Shape 21"/>
          <p:cNvSpPr/>
          <p:nvPr/>
        </p:nvSpPr>
        <p:spPr>
          <a:xfrm>
            <a:off x="777240" y="3218688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8" name="Text 22"/>
          <p:cNvSpPr/>
          <p:nvPr/>
        </p:nvSpPr>
        <p:spPr>
          <a:xfrm>
            <a:off x="438912" y="3456432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Configure persistent memory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38912" y="368960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ChatMemory memory = new JdbcChatMemory(jdbcTemplate);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38912" y="4155948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Advisor keeps history per conversationId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38912" y="4389120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chatClient.prompt()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38912" y="4622292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.advisors(new MessageChatMemoryAdvisor(memory))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38912" y="485546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.advisors(a -&gt; a.param(CONVERSATION_ID_KEY, "conv-001"))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38912" y="508863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.user("Do you remember what I asked?").call();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solidFill>
            <a:srgbClr val="D4EDBA"/>
          </a:solidFill>
          <a:ln/>
        </p:spPr>
      </p:sp>
      <p:sp>
        <p:nvSpPr>
          <p:cNvPr id="36" name="Text 30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automatically injected into every request — the LLM keeps context without extra code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ETL Pipeline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pipeline to ingest documents into the Vector Store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417320"/>
            <a:ext cx="2788920" cy="1417320"/>
          </a:xfrm>
          <a:prstGeom prst="rect">
            <a:avLst/>
          </a:prstGeom>
          <a:solidFill>
            <a:srgbClr val="4A8B2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146304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Document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4048" y="2057400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PDFs, HTML, Markdown, Word, JSON, CSV from disk, URL or classpath.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063240" y="1810512"/>
            <a:ext cx="155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218688" y="1417320"/>
            <a:ext cx="2788920" cy="1417320"/>
          </a:xfrm>
          <a:prstGeom prst="rect">
            <a:avLst/>
          </a:prstGeom>
          <a:solidFill>
            <a:srgbClr val="6DB33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18688" y="146304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Document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328416" y="2057400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Splits, cleans and enriches. TokenTextSplitter, KeywordMetadataEnricher…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07608" y="1810512"/>
            <a:ext cx="155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163056" y="1417320"/>
            <a:ext cx="2788920" cy="1417320"/>
          </a:xfrm>
          <a:prstGeom prst="rect">
            <a:avLst/>
          </a:prstGeom>
          <a:solidFill>
            <a:srgbClr val="2E9E7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63056" y="146304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Document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72784" y="2057400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vectorized chunks to the Vector Store of your choice.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4320" y="2971800"/>
            <a:ext cx="8595360" cy="2057400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971800"/>
            <a:ext cx="859536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9" name="Shape 16"/>
          <p:cNvSpPr/>
          <p:nvPr/>
        </p:nvSpPr>
        <p:spPr>
          <a:xfrm>
            <a:off x="411480" y="306324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" y="306324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306324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2" name="Text 19"/>
          <p:cNvSpPr/>
          <p:nvPr/>
        </p:nvSpPr>
        <p:spPr>
          <a:xfrm>
            <a:off x="438912" y="330098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Reader → Transformer → Writer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38912" y="353415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TokenTextSplitter()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38912" y="3767328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.apply(new PagePdfDocumentReader("docs.pdf")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38912" y="4000500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.read())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38912" y="4233672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.forEach(vectorStore::add);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38912" y="470001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DocumentReaders: PDF, HTML, Markdown, TIKA, GitHub, YouTube…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 with Ollama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LLMs locally — no external APIs, no token costs, no data leaving your infrastructure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41732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4173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8" name="Shape 5"/>
          <p:cNvSpPr/>
          <p:nvPr/>
        </p:nvSpPr>
        <p:spPr>
          <a:xfrm>
            <a:off x="1298448" y="15270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1609344"/>
            <a:ext cx="521208" cy="5212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" y="2331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Privacy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11480" y="273405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 your infrastructure. Ideal for sensitive data or regulated environments.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0" y="141732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14173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4" name="Shape 10"/>
          <p:cNvSpPr/>
          <p:nvPr/>
        </p:nvSpPr>
        <p:spPr>
          <a:xfrm>
            <a:off x="4224528" y="15270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609344"/>
            <a:ext cx="521208" cy="5212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10128" y="2331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Token Cost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337560" y="273405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per-token billing. Perfect for development, testing and batch processing.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26480" y="141732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26480" y="14173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0" name="Shape 15"/>
          <p:cNvSpPr/>
          <p:nvPr/>
        </p:nvSpPr>
        <p:spPr>
          <a:xfrm>
            <a:off x="7150608" y="15270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1609344"/>
            <a:ext cx="521208" cy="5212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36208" y="2331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263640" y="273405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code is identical. Just change the starter and properties — zero refactoring.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274320" y="3456432"/>
            <a:ext cx="8595360" cy="1572768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74320" y="3456432"/>
            <a:ext cx="859536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6" name="Shape 20"/>
          <p:cNvSpPr/>
          <p:nvPr/>
        </p:nvSpPr>
        <p:spPr>
          <a:xfrm>
            <a:off x="411480" y="354787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7" name="Shape 21"/>
          <p:cNvSpPr/>
          <p:nvPr/>
        </p:nvSpPr>
        <p:spPr>
          <a:xfrm>
            <a:off x="594360" y="354787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8" name="Shape 22"/>
          <p:cNvSpPr/>
          <p:nvPr/>
        </p:nvSpPr>
        <p:spPr>
          <a:xfrm>
            <a:off x="777240" y="354787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9" name="Text 23"/>
          <p:cNvSpPr/>
          <p:nvPr/>
        </p:nvSpPr>
        <p:spPr>
          <a:xfrm>
            <a:off x="438912" y="378561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application.properties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38912" y="4018788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spring.ai.ollama.base-url=http://localhost:11434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38912" y="4251960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spring.ai.ollama.chat.options.model=llama3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38912" y="471830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ChatClient works exactly like with OpenAI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38912" y="495147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r = chatClient.prompt().user("Hello!").call().content();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Llama 3, Mistral, Phi-3, Gemma 2, CodeLlama, Qwen, DeepSeek…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87552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87552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7" name="Shape 4"/>
          <p:cNvSpPr/>
          <p:nvPr/>
        </p:nvSpPr>
        <p:spPr>
          <a:xfrm>
            <a:off x="1298448" y="1097280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1179576"/>
            <a:ext cx="521208" cy="5212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4048" y="190195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Micrometer Metrics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11480" y="230428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token usage and errors exported to Prometheus, DataDog, CloudWatch…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0" y="987552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987552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3" name="Shape 9"/>
          <p:cNvSpPr/>
          <p:nvPr/>
        </p:nvSpPr>
        <p:spPr>
          <a:xfrm>
            <a:off x="4224528" y="1097280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179576"/>
            <a:ext cx="521208" cy="5212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10128" y="190195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337560" y="230428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with Micrometer Tracing (Zipkin, Jaeger) for the full request lifecycle.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126480" y="987552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126480" y="987552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9" name="Shape 14"/>
          <p:cNvSpPr/>
          <p:nvPr/>
        </p:nvSpPr>
        <p:spPr>
          <a:xfrm>
            <a:off x="7150608" y="1097280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1179576"/>
            <a:ext cx="521208" cy="5212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36208" y="190195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Actuator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263640" y="230428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/actuator/health and /actuator/metrics to monitor model health in production.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274320" y="3035808"/>
            <a:ext cx="8595360" cy="1993392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74320" y="3035808"/>
            <a:ext cx="859536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5" name="Shape 19"/>
          <p:cNvSpPr/>
          <p:nvPr/>
        </p:nvSpPr>
        <p:spPr>
          <a:xfrm>
            <a:off x="411480" y="3127248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6" name="Shape 20"/>
          <p:cNvSpPr/>
          <p:nvPr/>
        </p:nvSpPr>
        <p:spPr>
          <a:xfrm>
            <a:off x="594360" y="3127248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7" name="Shape 21"/>
          <p:cNvSpPr/>
          <p:nvPr/>
        </p:nvSpPr>
        <p:spPr>
          <a:xfrm>
            <a:off x="777240" y="3127248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8" name="Text 22"/>
          <p:cNvSpPr/>
          <p:nvPr/>
        </p:nvSpPr>
        <p:spPr>
          <a:xfrm>
            <a:off x="438912" y="3364992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application.properties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38912" y="359816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management.endpoints.web.exposure.include=health,metrics,info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38912" y="383133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management.tracing.sampling.probability=1.0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38912" y="4297680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Auto metrics available: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38912" y="4530852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spring.ai.chat.client.requests    (call counter)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38912" y="476402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spring.ai.chat.client.tokens.input / .output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solidFill>
            <a:srgbClr val="D4EDBA"/>
          </a:solidFill>
          <a:ln/>
        </p:spPr>
      </p:sp>
      <p:sp>
        <p:nvSpPr>
          <p:cNvPr id="35" name="Text 29"/>
          <p:cNvSpPr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by adding spring-boot-starter-actuator + micrometer-registry-prometheus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protocol to connect LLMs with external tools and data sources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444752"/>
            <a:ext cx="2377440" cy="749808"/>
          </a:xfrm>
          <a:prstGeom prst="rect">
            <a:avLst/>
          </a:prstGeom>
          <a:solidFill>
            <a:srgbClr val="6DB33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14447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ChatClient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0" y="153619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200400" y="1444752"/>
            <a:ext cx="2377440" cy="749808"/>
          </a:xfrm>
          <a:prstGeom prst="rect">
            <a:avLst/>
          </a:prstGeom>
          <a:solidFill>
            <a:srgbClr val="4A8B2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0" y="14447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(Spring)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577840" y="153619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D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035040" y="1444752"/>
            <a:ext cx="2377440" cy="749808"/>
          </a:xfrm>
          <a:prstGeom prst="rect">
            <a:avLst/>
          </a:prstGeom>
          <a:solidFill>
            <a:srgbClr val="2E9E7A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35040" y="14447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(Tool)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74320" y="2395728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395728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6" name="Shape 13"/>
          <p:cNvSpPr/>
          <p:nvPr/>
        </p:nvSpPr>
        <p:spPr>
          <a:xfrm>
            <a:off x="1298448" y="2505456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2587752"/>
            <a:ext cx="521208" cy="5212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84048" y="331012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11480" y="3712464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includes a client that connects to any compatible MCP server.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200400" y="2395728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200400" y="2395728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2" name="Shape 18"/>
          <p:cNvSpPr/>
          <p:nvPr/>
        </p:nvSpPr>
        <p:spPr>
          <a:xfrm>
            <a:off x="4224528" y="2505456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2587752"/>
            <a:ext cx="521208" cy="5212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310128" y="331012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3337560" y="3712464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Java tools with @McpTool and McpSyncServerExchange.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126480" y="2395728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126480" y="2395728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8" name="Shape 23"/>
          <p:cNvSpPr/>
          <p:nvPr/>
        </p:nvSpPr>
        <p:spPr>
          <a:xfrm>
            <a:off x="7150608" y="2505456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2587752"/>
            <a:ext cx="521208" cy="5212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236208" y="331012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263640" y="3712464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Anthropic Claude Desktop, Cursor and any standard MCP client.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274320" y="4325112"/>
            <a:ext cx="8595360" cy="749808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274320" y="4325112"/>
            <a:ext cx="859536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4" name="Shape 28"/>
          <p:cNvSpPr/>
          <p:nvPr/>
        </p:nvSpPr>
        <p:spPr>
          <a:xfrm>
            <a:off x="411480" y="4416552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35" name="Shape 29"/>
          <p:cNvSpPr/>
          <p:nvPr/>
        </p:nvSpPr>
        <p:spPr>
          <a:xfrm>
            <a:off x="594360" y="4416552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36" name="Shape 30"/>
          <p:cNvSpPr/>
          <p:nvPr/>
        </p:nvSpPr>
        <p:spPr>
          <a:xfrm>
            <a:off x="777240" y="4416552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37" name="Text 31"/>
          <p:cNvSpPr/>
          <p:nvPr/>
        </p:nvSpPr>
        <p:spPr>
          <a:xfrm>
            <a:off x="438912" y="465429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spring.ai.mcp.client.sse.connections.myServer.url=http://localhost:8080/mcp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Testing &amp; Evaluation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includes utilities to evaluate the quality and relevance of model responses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4173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4173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8" name="Shape 5"/>
          <p:cNvSpPr/>
          <p:nvPr/>
        </p:nvSpPr>
        <p:spPr>
          <a:xfrm>
            <a:off x="1298448" y="15270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1609344"/>
            <a:ext cx="521208" cy="5212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" y="2331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RelevancyEvaluator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11480" y="27340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whether the response is relevant to the question using the LLM as judge.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0" y="14173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14173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4" name="Shape 10"/>
          <p:cNvSpPr/>
          <p:nvPr/>
        </p:nvSpPr>
        <p:spPr>
          <a:xfrm>
            <a:off x="4224528" y="15270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609344"/>
            <a:ext cx="521208" cy="5212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10128" y="2331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FactCheckingEvaluator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337560" y="27340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response is grounded in retrieved context (anti-hallucination).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26480" y="14173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26480" y="14173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0" name="Shape 15"/>
          <p:cNvSpPr/>
          <p:nvPr/>
        </p:nvSpPr>
        <p:spPr>
          <a:xfrm>
            <a:off x="7150608" y="15270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1609344"/>
            <a:ext cx="521208" cy="5212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36208" y="2331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MockChatClient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263640" y="27340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LLM responses in unit tests without real API calls.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274320" y="3383280"/>
            <a:ext cx="8595360" cy="1901952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74320" y="3383280"/>
            <a:ext cx="859536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6" name="Shape 20"/>
          <p:cNvSpPr/>
          <p:nvPr/>
        </p:nvSpPr>
        <p:spPr>
          <a:xfrm>
            <a:off x="411480" y="347472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7" name="Shape 21"/>
          <p:cNvSpPr/>
          <p:nvPr/>
        </p:nvSpPr>
        <p:spPr>
          <a:xfrm>
            <a:off x="594360" y="347472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8" name="Shape 22"/>
          <p:cNvSpPr/>
          <p:nvPr/>
        </p:nvSpPr>
        <p:spPr>
          <a:xfrm>
            <a:off x="777240" y="347472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9" name="Text 23"/>
          <p:cNvSpPr/>
          <p:nvPr/>
        </p:nvSpPr>
        <p:spPr>
          <a:xfrm>
            <a:off x="438912" y="371246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@SpringBootTest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38912" y="394563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AiTest {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38912" y="4178808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 RelevancyEvaluator evaluator;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38912" y="4411980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@Test void testRelevancy() {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38912" y="4645152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req = new EvaluationRequest("Capital of Mexico?",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38912" y="487832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List.of(), "Mexico City");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38912" y="511149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B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assertTrue(evaluator.evaluate(req).isPass());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38912" y="5344668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Multimodality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text, images, audio and documents to the model — all from the same ChatClient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14173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4173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8" name="Shape 5"/>
          <p:cNvSpPr/>
          <p:nvPr/>
        </p:nvSpPr>
        <p:spPr>
          <a:xfrm>
            <a:off x="1298448" y="15270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744" y="1609344"/>
            <a:ext cx="521208" cy="5212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" y="2331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(Image)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11480" y="27340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images, screenshots and diagrams. Compatible with GPT-4o Vision, Claude 3.5, Gemini.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0" y="14173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14173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4" name="Shape 10"/>
          <p:cNvSpPr/>
          <p:nvPr/>
        </p:nvSpPr>
        <p:spPr>
          <a:xfrm>
            <a:off x="4224528" y="15270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609344"/>
            <a:ext cx="521208" cy="5212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10128" y="2331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&amp; Voice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337560" y="27340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(Speech-to-Text) and synthesis (TTS) with OpenAI Whisper and Azure Speech.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26480" y="14173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26480" y="1417320"/>
            <a:ext cx="274320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0" name="Shape 15"/>
          <p:cNvSpPr/>
          <p:nvPr/>
        </p:nvSpPr>
        <p:spPr>
          <a:xfrm>
            <a:off x="7150608" y="1527048"/>
            <a:ext cx="685800" cy="685800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1609344"/>
            <a:ext cx="521208" cy="5212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36208" y="233172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263640" y="27340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PDFs and files as direct context in the prompt for inline analysis.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274320" y="3383280"/>
            <a:ext cx="8595360" cy="1828800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74320" y="3383280"/>
            <a:ext cx="8595360" cy="36576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6" name="Shape 20"/>
          <p:cNvSpPr/>
          <p:nvPr/>
        </p:nvSpPr>
        <p:spPr>
          <a:xfrm>
            <a:off x="411480" y="347472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7" name="Shape 21"/>
          <p:cNvSpPr/>
          <p:nvPr/>
        </p:nvSpPr>
        <p:spPr>
          <a:xfrm>
            <a:off x="594360" y="347472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8" name="Shape 22"/>
          <p:cNvSpPr/>
          <p:nvPr/>
        </p:nvSpPr>
        <p:spPr>
          <a:xfrm>
            <a:off x="777240" y="347472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9" name="Text 23"/>
          <p:cNvSpPr/>
          <p:nvPr/>
        </p:nvSpPr>
        <p:spPr>
          <a:xfrm>
            <a:off x="438912" y="371246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Analyze an image with GPT-4o Vision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38912" y="394563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media = new Media(MimeTypeUtils.IMAGE_PNG,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38912" y="4178808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new ClassPathResource("diagram.png"));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38912" y="4411980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result = chatClient.prompt()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38912" y="4645152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.user(u -&gt; u.text("What does this diagram show?")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38912" y="4878324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.media(media))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38912" y="5111496"/>
            <a:ext cx="826617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.call().content();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6DB3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87552"/>
            <a:ext cx="2788920" cy="1764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87552"/>
            <a:ext cx="278892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335024"/>
            <a:ext cx="566928" cy="566928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399032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61288" y="1124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Externalize prompts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93192" y="1947672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templates in .st classpath files. Iterate without recompiling.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46120" y="987552"/>
            <a:ext cx="2788920" cy="1764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46120" y="987552"/>
            <a:ext cx="278892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3" name="Shape 9"/>
          <p:cNvSpPr/>
          <p:nvPr/>
        </p:nvSpPr>
        <p:spPr>
          <a:xfrm>
            <a:off x="3429000" y="1335024"/>
            <a:ext cx="566928" cy="566928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1399032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33088" y="1124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Observability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364992" y="1947672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Micrometer from day one. Monitor latency and token usage in every env.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217920" y="987552"/>
            <a:ext cx="2788920" cy="1764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217920" y="987552"/>
            <a:ext cx="278892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0" y="1335024"/>
            <a:ext cx="566928" cy="566928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1399032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04888" y="1124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ChatMemory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336792" y="1947672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JdbcChatMemory in production. InMemory only for dev and tests.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274320" y="2971800"/>
            <a:ext cx="2788920" cy="1764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74320" y="2971800"/>
            <a:ext cx="278892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" y="3319272"/>
            <a:ext cx="566928" cy="566928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383280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61288" y="3108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in development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93192" y="3931920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costs or network latency. Switch to cloud in production with zero refactor.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246120" y="2971800"/>
            <a:ext cx="2788920" cy="1764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246120" y="2971800"/>
            <a:ext cx="278892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1" name="Shape 24"/>
          <p:cNvSpPr/>
          <p:nvPr/>
        </p:nvSpPr>
        <p:spPr>
          <a:xfrm>
            <a:off x="3429000" y="3319272"/>
            <a:ext cx="566928" cy="566928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008" y="3383280"/>
            <a:ext cx="438912" cy="4389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133088" y="3108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 Testing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364992" y="3931920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RelevancyEvaluator to CI/CD to catch response quality regressions.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217920" y="2971800"/>
            <a:ext cx="2788920" cy="1764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217920" y="2971800"/>
            <a:ext cx="2788920" cy="4572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7" name="Shape 29"/>
          <p:cNvSpPr/>
          <p:nvPr/>
        </p:nvSpPr>
        <p:spPr>
          <a:xfrm>
            <a:off x="6400800" y="3319272"/>
            <a:ext cx="566928" cy="566928"/>
          </a:xfrm>
          <a:prstGeom prst="ellipse">
            <a:avLst/>
          </a:prstGeom>
          <a:solidFill>
            <a:srgbClr val="D4EDBA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4808" y="3383280"/>
            <a:ext cx="438912" cy="43891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104888" y="3108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portability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6336792" y="3931920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ChatClient via Spring. Never couple code to a specific provider SDK.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4A8B2A">
              <a:alpha val="40000"/>
            </a:srgbClr>
          </a:solidFill>
          <a:ln w="12700">
            <a:solidFill>
              <a:srgbClr val="4A8B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3657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1691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2560320"/>
            <a:ext cx="2560320" cy="45720"/>
          </a:xfrm>
          <a:prstGeom prst="rect">
            <a:avLst/>
          </a:prstGeom>
          <a:solidFill>
            <a:srgbClr val="D4EDB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651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E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1.0 GA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82880" y="4160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docs.spring.io/spring-ai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82880" y="4526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github.com/spring-projects/spring-ai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0" y="960120"/>
            <a:ext cx="4754880" cy="43891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14800" y="960120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2" name="Text 9"/>
          <p:cNvSpPr/>
          <p:nvPr/>
        </p:nvSpPr>
        <p:spPr>
          <a:xfrm>
            <a:off x="4251960" y="960120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Portability over 15+ AI providers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14800" y="1481328"/>
            <a:ext cx="4754880" cy="43891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14800" y="1481328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5" name="Text 12"/>
          <p:cNvSpPr/>
          <p:nvPr/>
        </p:nvSpPr>
        <p:spPr>
          <a:xfrm>
            <a:off x="4251960" y="148132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Native Spring Boot integration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14800" y="2002536"/>
            <a:ext cx="4754880" cy="43891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114800" y="2002536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18" name="Text 15"/>
          <p:cNvSpPr/>
          <p:nvPr/>
        </p:nvSpPr>
        <p:spPr>
          <a:xfrm>
            <a:off x="4251960" y="2002536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Chat, RAG, Agents, Memory, Multimodal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114800" y="2523744"/>
            <a:ext cx="4754880" cy="43891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114800" y="2523744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1" name="Text 18"/>
          <p:cNvSpPr/>
          <p:nvPr/>
        </p:nvSpPr>
        <p:spPr>
          <a:xfrm>
            <a:off x="4251960" y="2523744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Local models with Ollama — zero refactor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114800" y="3044952"/>
            <a:ext cx="4754880" cy="43891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114800" y="3044952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4" name="Text 21"/>
          <p:cNvSpPr/>
          <p:nvPr/>
        </p:nvSpPr>
        <p:spPr>
          <a:xfrm>
            <a:off x="4251960" y="3044952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Observability with Micrometer from day one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114800" y="3566160"/>
            <a:ext cx="4754880" cy="43891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114800" y="3566160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27" name="Text 24"/>
          <p:cNvSpPr/>
          <p:nvPr/>
        </p:nvSpPr>
        <p:spPr>
          <a:xfrm>
            <a:off x="4251960" y="3566160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Evaluators for anti-hallucination testing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114800" y="4087368"/>
            <a:ext cx="4754880" cy="43891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114800" y="4087368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0" name="Text 27"/>
          <p:cNvSpPr/>
          <p:nvPr/>
        </p:nvSpPr>
        <p:spPr>
          <a:xfrm>
            <a:off x="4251960" y="408736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MCP: integrate any external tool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114800" y="4608576"/>
            <a:ext cx="4754880" cy="438912"/>
          </a:xfrm>
          <a:prstGeom prst="rect">
            <a:avLst/>
          </a:prstGeom>
          <a:solidFill>
            <a:srgbClr val="EEF7E4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114800" y="4608576"/>
            <a:ext cx="45720" cy="438912"/>
          </a:xfrm>
          <a:prstGeom prst="rect">
            <a:avLst/>
          </a:prstGeom>
          <a:solidFill>
            <a:srgbClr val="6DB33F"/>
          </a:solidFill>
          <a:ln/>
        </p:spPr>
      </p:sp>
      <p:sp>
        <p:nvSpPr>
          <p:cNvPr id="33" name="Text 30"/>
          <p:cNvSpPr/>
          <p:nvPr/>
        </p:nvSpPr>
        <p:spPr>
          <a:xfrm>
            <a:off x="4251960" y="4608576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From PoC to production without rewriting code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AI</dc:title>
  <dc:subject>PptxGenJS Presentation</dc:subject>
  <dc:creator>PptxGenJS</dc:creator>
  <cp:lastModifiedBy>PptxGenJS</cp:lastModifiedBy>
  <cp:revision>1</cp:revision>
  <dcterms:created xsi:type="dcterms:W3CDTF">2026-05-19T18:38:40Z</dcterms:created>
  <dcterms:modified xsi:type="dcterms:W3CDTF">2026-05-19T18:38:40Z</dcterms:modified>
</cp:coreProperties>
</file>