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00400"/>
            <a:ext cx="3840480" cy="3840480"/>
          </a:xfrm>
          <a:prstGeom prst="ellipse">
            <a:avLst/>
          </a:prstGeom>
          <a:solidFill>
            <a:srgbClr val="4A8B2A">
              <a:alpha val="45000"/>
            </a:srgbClr>
          </a:solidFill>
          <a:ln w="12700">
            <a:solidFill>
              <a:srgbClr val="4A8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-1097280"/>
            <a:ext cx="2743200" cy="2743200"/>
          </a:xfrm>
          <a:prstGeom prst="ellipse">
            <a:avLst/>
          </a:prstGeom>
          <a:solidFill>
            <a:srgbClr val="A8D57F">
              <a:alpha val="35000"/>
            </a:srgbClr>
          </a:solidFill>
          <a:ln w="12700">
            <a:solidFill>
              <a:srgbClr val="A8D5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20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6576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Said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Olano Garcia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31520" y="3383280"/>
            <a:ext cx="2651760" cy="36576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" y="34564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Manager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34840" y="457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presentador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434840" y="1005840"/>
            <a:ext cx="256032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1188720"/>
            <a:ext cx="475488" cy="47548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252728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47488" y="12435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josesaid@gmail.com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34840" y="1847088"/>
            <a:ext cx="475488" cy="47548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91109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7488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linkedin.com/in/josesaid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434840" y="2505456"/>
            <a:ext cx="475488" cy="47548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569464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47488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· Java · Microservices · AWS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434840" y="3291840"/>
            <a:ext cx="4434840" cy="1691640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34840" y="3291840"/>
            <a:ext cx="54864" cy="169164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3" name="Text 17"/>
          <p:cNvSpPr/>
          <p:nvPr/>
        </p:nvSpPr>
        <p:spPr>
          <a:xfrm>
            <a:off x="461772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de esta presentación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17720" y="3749040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completa de Spring AI 1.0 GA: fundamentos, ChatClient, RAG, Agents, Advisors, Memory, ETL Pipeline, Ollama, Observabilidad, MCP y Testing. Código Java real en cada slide.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4A8B2A">
              <a:alpha val="40000"/>
            </a:srgbClr>
          </a:solidFill>
          <a:ln w="12700">
            <a:solidFill>
              <a:srgbClr val="4A8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914400"/>
            <a:ext cx="2560320" cy="2560320"/>
          </a:xfrm>
          <a:prstGeom prst="ellipse">
            <a:avLst/>
          </a:prstGeom>
          <a:solidFill>
            <a:srgbClr val="A8D57F">
              <a:alpha val="35000"/>
            </a:srgbClr>
          </a:solidFill>
          <a:ln w="12700">
            <a:solidFill>
              <a:srgbClr val="A8D5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66420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640080" y="2807208"/>
            <a:ext cx="2560320" cy="457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290779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para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7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Spring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 GA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822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114800" y="1344168"/>
            <a:ext cx="228600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¿Qué es Spring AI?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37960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Arquitectura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ChatClient &amp; Chat Models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Templates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14800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Output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37960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&amp; Vector Stores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0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Modelos &amp; Proveedores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Agents &amp; Tool Calling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14800" y="29809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Advisors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37960" y="29809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Memory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14800" y="3355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ETL Pipeline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537960" y="3355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Modelos Locales (Ollama)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0" y="37307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Observabilidad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37960" y="37307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Protocol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114800" y="4105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Testing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537960" y="4105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Multimodalidad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114800" y="4480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Mejores Prácticas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37960" y="4480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Spring AI?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43891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484632" cy="484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152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1554480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que simplifica el desarrollo de apps con IA generativa en el ecosistema Spring/Java.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987552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87375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484632" cy="4846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152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Inspiración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23560" y="1554480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en LangChain y LlamaIndex (Python), pero diseñado nativamente para Java enterprise.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74320" y="2971800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43891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38728"/>
            <a:ext cx="484632" cy="484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136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88720" y="353872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 los proveedores de IA (OpenAI, Azure, Google…) con interfaces comunes e intercambiables.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09160" y="2971800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87375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38728"/>
            <a:ext cx="484632" cy="4846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3136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23560" y="353872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nativamente con Spring Boot: autoconfiguración, application.properties y starters.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Spring AI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914400" y="960120"/>
            <a:ext cx="7315200" cy="749808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96012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Aplicación Spring Boot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7408" y="1709928"/>
            <a:ext cx="329184" cy="164592"/>
          </a:xfrm>
          <a:prstGeom prst="rect">
            <a:avLst/>
          </a:prstGeom>
          <a:solidFill>
            <a:srgbClr val="A8D57F"/>
          </a:solidFill>
          <a:ln/>
        </p:spPr>
      </p:sp>
      <p:sp>
        <p:nvSpPr>
          <p:cNvPr id="8" name="Text 5"/>
          <p:cNvSpPr/>
          <p:nvPr/>
        </p:nvSpPr>
        <p:spPr>
          <a:xfrm>
            <a:off x="4407408" y="1709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7315200" cy="749808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187452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Core  ·  ChatClient  ·  PromptTemplate  ·  VectorStore  ·  Advisors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07408" y="2624328"/>
            <a:ext cx="329184" cy="164592"/>
          </a:xfrm>
          <a:prstGeom prst="rect">
            <a:avLst/>
          </a:prstGeom>
          <a:solidFill>
            <a:srgbClr val="A8D57F"/>
          </a:solidFill>
          <a:ln/>
        </p:spPr>
      </p:sp>
      <p:sp>
        <p:nvSpPr>
          <p:cNvPr id="12" name="Text 9"/>
          <p:cNvSpPr/>
          <p:nvPr/>
        </p:nvSpPr>
        <p:spPr>
          <a:xfrm>
            <a:off x="4407408" y="26243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788920"/>
            <a:ext cx="7315200" cy="749808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278892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de IA  ·  OpenAI  ·  Azure  ·  Vertex  ·  Bedrock  ·  Ollama…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7" name="Shape 14"/>
          <p:cNvSpPr/>
          <p:nvPr/>
        </p:nvSpPr>
        <p:spPr>
          <a:xfrm>
            <a:off x="749808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67912"/>
            <a:ext cx="521208" cy="5212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39112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039112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2" name="Shape 18"/>
          <p:cNvSpPr/>
          <p:nvPr/>
        </p:nvSpPr>
        <p:spPr>
          <a:xfrm>
            <a:off x="2468880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3867912"/>
            <a:ext cx="521208" cy="5212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39112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758184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758184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7" name="Shape 22"/>
          <p:cNvSpPr/>
          <p:nvPr/>
        </p:nvSpPr>
        <p:spPr>
          <a:xfrm>
            <a:off x="4187952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3867912"/>
            <a:ext cx="521208" cy="5212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758184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77256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77256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2" name="Shape 26"/>
          <p:cNvSpPr/>
          <p:nvPr/>
        </p:nvSpPr>
        <p:spPr>
          <a:xfrm>
            <a:off x="5907024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867912"/>
            <a:ext cx="521208" cy="5212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77256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196328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196328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7" name="Shape 30"/>
          <p:cNvSpPr/>
          <p:nvPr/>
        </p:nvSpPr>
        <p:spPr>
          <a:xfrm>
            <a:off x="7626096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3867912"/>
            <a:ext cx="521208" cy="5212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96328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&amp; Chat Model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3886200" cy="3977640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fluida y portátil para interactuar con cualquier LLM: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3520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sincrónicas y streaming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sistema, usuario y asistente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multi-turno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para pre/post-procesado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multi-modal (texto + imagen)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listo con Spring Boot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960120"/>
            <a:ext cx="4526280" cy="397764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960120"/>
            <a:ext cx="452628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0515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0515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0515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128930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 ChatClient chatClient;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07992" y="175564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Respuesta simple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07992" y="198882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 = chatClient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07992" y="222199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.prompt()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07992" y="245516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.user("What is Spring AI?")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07992" y="268833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.call().content();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07992" y="315468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Streaming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07992" y="338785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07992" y="362102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.user("Explain step by step")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07992" y="385419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.stream()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07992" y="408736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.content()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07992" y="432054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.subscribe(out::println);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10698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152144"/>
            <a:ext cx="521208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27685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reutilizables con variables {placeholder}. Separa lógica del texto del prompt.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224528" y="10698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52144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User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37560" y="227685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mensajes de sistema (rol/comportamiento) con mensajes del usuario.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9601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7150608" y="10698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152144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.st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27685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cargados desde classpath como archivos StringTemplate — sin recompilar.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200400"/>
            <a:ext cx="8595360" cy="182880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20040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329184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329184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29184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52958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PromptTemplate pt = new PromptTemplate(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8912" y="376275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"Translate {text} to {language}");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99592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p = pt.create(Map.of("text","Hello","language","fr"));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46227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+ User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69544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chatClient.prompt().system("You are a Java expert")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92861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.user("Explain records").call();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convierte la respuesta del LLM en objetos Java tipados — sin parseo manual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35608"/>
            <a:ext cx="1828800" cy="713232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153619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60320" y="1435608"/>
            <a:ext cx="1828800" cy="713232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0" y="153619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663440" y="1435608"/>
            <a:ext cx="1828800" cy="713232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Converter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153619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766560" y="1435608"/>
            <a:ext cx="1828800" cy="713232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Object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2331720"/>
            <a:ext cx="8595360" cy="269748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33172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24231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24231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24231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" y="26609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your Java Record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8912" y="289407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Actor(String name, List&lt;String&gt; movies) {}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8912" y="336042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AI parses automatically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38912" y="359359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actor = chatClient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8912" y="38267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.prompt("Info about Keanu Reeves")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" y="40599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8912" y="429310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.entity(Actor.class);  // no manual Jackson!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8912" y="47594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Also: List&lt;T&gt;  ·  Map&lt;K,V&gt;  ·  BeanOutputConverter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 — Enriquece las respuestas con tu propia data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371600"/>
            <a:ext cx="1536192" cy="1005840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47672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21408" y="1371600"/>
            <a:ext cx="1536192" cy="100584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42616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13" name="Text 10"/>
          <p:cNvSpPr/>
          <p:nvPr/>
        </p:nvSpPr>
        <p:spPr>
          <a:xfrm>
            <a:off x="264261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21408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0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31336" y="1371600"/>
            <a:ext cx="1536192" cy="1005840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52544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18" name="Text 15"/>
          <p:cNvSpPr/>
          <p:nvPr/>
        </p:nvSpPr>
        <p:spPr>
          <a:xfrm>
            <a:off x="435254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31336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67528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41264" y="1371600"/>
            <a:ext cx="1536192" cy="100584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62472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23" name="Text 20"/>
          <p:cNvSpPr/>
          <p:nvPr/>
        </p:nvSpPr>
        <p:spPr>
          <a:xfrm>
            <a:off x="606247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41264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77456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51192" y="1371600"/>
            <a:ext cx="1536192" cy="1005840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0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251192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Enriquecido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 soportados: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6576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6576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51460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51460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6" name="Text 33"/>
          <p:cNvSpPr/>
          <p:nvPr/>
        </p:nvSpPr>
        <p:spPr>
          <a:xfrm>
            <a:off x="262432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66344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6344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9" name="Text 36"/>
          <p:cNvSpPr/>
          <p:nvPr/>
        </p:nvSpPr>
        <p:spPr>
          <a:xfrm>
            <a:off x="477316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81228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81228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2" name="Text 39"/>
          <p:cNvSpPr/>
          <p:nvPr/>
        </p:nvSpPr>
        <p:spPr>
          <a:xfrm>
            <a:off x="692200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36576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6576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5" name="Text 42"/>
          <p:cNvSpPr/>
          <p:nvPr/>
        </p:nvSpPr>
        <p:spPr>
          <a:xfrm>
            <a:off x="47548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251460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251460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8" name="Text 45"/>
          <p:cNvSpPr/>
          <p:nvPr/>
        </p:nvSpPr>
        <p:spPr>
          <a:xfrm>
            <a:off x="262432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66344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66344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51" name="Text 48"/>
          <p:cNvSpPr/>
          <p:nvPr/>
        </p:nvSpPr>
        <p:spPr>
          <a:xfrm>
            <a:off x="477316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81228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81228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54" name="Text 51"/>
          <p:cNvSpPr/>
          <p:nvPr/>
        </p:nvSpPr>
        <p:spPr>
          <a:xfrm>
            <a:off x="692200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365760" y="4251960"/>
            <a:ext cx="841248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57" name="Shape 54"/>
          <p:cNvSpPr/>
          <p:nvPr/>
        </p:nvSpPr>
        <p:spPr>
          <a:xfrm>
            <a:off x="502920" y="434340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58" name="Shape 55"/>
          <p:cNvSpPr/>
          <p:nvPr/>
        </p:nvSpPr>
        <p:spPr>
          <a:xfrm>
            <a:off x="685800" y="434340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59" name="Shape 56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60" name="Text 57"/>
          <p:cNvSpPr/>
          <p:nvPr/>
        </p:nvSpPr>
        <p:spPr>
          <a:xfrm>
            <a:off x="530352" y="4581144"/>
            <a:ext cx="80832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vectorStore.similaritySearch(SearchRequest.query("Java microservices").withTopK(5));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&amp; Proveedores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43891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484632" cy="484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170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160934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Claude 3.5, Gemini Pro, Llama 3, Mistral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987552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87375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484632" cy="4846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170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23560" y="160934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text-embedding-3, Titan Embeddings, Nomic, MiniLM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74320" y="2971800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43891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38728"/>
            <a:ext cx="484632" cy="484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88720" y="359359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3, Stable Diffusion, Vertex Imagen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09160" y="2971800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87375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38728"/>
            <a:ext cx="484632" cy="4846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Audio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23560" y="359359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Whisper, TTS — transcripción y síntesis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30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modelos comparten las mismas interfaces — cambiar de proveedor no requiere cambiar el código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Tool Calling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3886200" cy="3977640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al LLM llamar funciones Java reales en tiempo de ejecución: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métodos con @Tool para exponerlos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 cuándo y cómo usarlos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estáticas y dinámicas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usan APIs, DBs y servicios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llamadas encadenadas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960120"/>
            <a:ext cx="4526280" cy="397764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960120"/>
            <a:ext cx="452628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0515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0515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0515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128930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 tool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07992" y="152247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@Tool(description =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07992" y="175564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 stock price")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07992" y="198882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getPrice(String ticker) {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07992" y="222199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stockSvc.getPrice(ticker);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07992" y="245516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07992" y="292150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in ChatClient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07992" y="315468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07992" y="338785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.user("Analyze AAPL vs MSFT")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07992" y="362102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.tools(new StockTools())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07992" y="385419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.call().content();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&amp; Interceptores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Interceptan y modifican el flujo de la conversación antes y después del LLM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1554480" cy="685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11680" y="1417320"/>
            <a:ext cx="1554480" cy="68580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(pre)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49040" y="1417320"/>
            <a:ext cx="1554480" cy="685800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4904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1417320"/>
            <a:ext cx="1554480" cy="68580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(post)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23760" y="1417320"/>
            <a:ext cx="1554480" cy="685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2376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2860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28600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2" name="Shape 19"/>
          <p:cNvSpPr/>
          <p:nvPr/>
        </p:nvSpPr>
        <p:spPr>
          <a:xfrm>
            <a:off x="1298448" y="239572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478024"/>
            <a:ext cx="521208" cy="5212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4048" y="32004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MessageChatMemoryAdvisor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1148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automáticamente el historial en cada prompt — memoria transparente.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00400" y="22860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8" name="Shape 24"/>
          <p:cNvSpPr/>
          <p:nvPr/>
        </p:nvSpPr>
        <p:spPr>
          <a:xfrm>
            <a:off x="4224528" y="239572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478024"/>
            <a:ext cx="521208" cy="5212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310128" y="32004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QuestionAnswerAdvisor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333756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automático: busca en VectorStore y enriquece el contexto del prompt.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126480" y="22860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126480" y="228600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4" name="Shape 29"/>
          <p:cNvSpPr/>
          <p:nvPr/>
        </p:nvSpPr>
        <p:spPr>
          <a:xfrm>
            <a:off x="7150608" y="239572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478024"/>
            <a:ext cx="521208" cy="5212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236208" y="32004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Advisor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26364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CallAroundAdvisor para logging, seguridad, moderación o caché.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274320" y="4160520"/>
            <a:ext cx="8595360" cy="86868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74320" y="416052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0" name="Shape 34"/>
          <p:cNvSpPr/>
          <p:nvPr/>
        </p:nvSpPr>
        <p:spPr>
          <a:xfrm>
            <a:off x="411480" y="4251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41" name="Shape 35"/>
          <p:cNvSpPr/>
          <p:nvPr/>
        </p:nvSpPr>
        <p:spPr>
          <a:xfrm>
            <a:off x="594360" y="4251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42" name="Shape 36"/>
          <p:cNvSpPr/>
          <p:nvPr/>
        </p:nvSpPr>
        <p:spPr>
          <a:xfrm>
            <a:off x="777240" y="4251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43" name="Text 37"/>
          <p:cNvSpPr/>
          <p:nvPr/>
        </p:nvSpPr>
        <p:spPr>
          <a:xfrm>
            <a:off x="438912" y="44897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38912" y="472287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.advisors(new MessageChatMemoryAdvisor(mem), new QuestionAnswerAdvisor(vs))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438912" y="495604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.user(query).call().content();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179576"/>
            <a:ext cx="521208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InMemoryChatMemory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historial en RAM. Ideal para desarrollo y PoC. Se pierde al reiniciar.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987552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22452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79576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JdbcChatMemory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3756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la conversación en base de datos relacional vía Spring JDBC. Listo para producción.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987552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715060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17957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CassandraChatMemory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distribuido en Apache Cassandra para alta disponibilidad.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127248"/>
            <a:ext cx="8595360" cy="187452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127248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3218688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3218688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218688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45643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Configurar memoria persistente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8912" y="36896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ChatMemory memory = new JdbcChatMemory(jdbcTemplate);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415594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Advisor keeps history per conversationId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38912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62229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.advisors(new MessageChatMemoryAdvisor(memory))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8554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.advisors(a -&gt; a.param(CONVERSATION_ID_KEY, "conv-001"))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8912" y="50886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.user("Do you remember what I asked?").call();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36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se inyecta automáticamente en cada request — el LLM mantiene contexto sin código extra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para Documentos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tres fases para ingestar documentos en el Vector Store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88920" cy="1417320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463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205740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PDFs, HTML, Markdown, Word, JSON, CSV desde disco, URL o classpath.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63240" y="1810512"/>
            <a:ext cx="155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18688" y="1417320"/>
            <a:ext cx="2788920" cy="141732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18688" y="1463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28416" y="205740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Divide, limpia y enriquece. TokenTextSplitter, KeywordMetadataEnricher…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810512"/>
            <a:ext cx="155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63056" y="1417320"/>
            <a:ext cx="2788920" cy="1417320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63056" y="1463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72784" y="205740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los chunks vectorizados al Vector Store de tu elección.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8595360" cy="205740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306324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306324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306324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" y="330098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Reader → Transformer → Writer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8912" y="353415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TokenTextSplitter()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8912" y="376732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.apply(new PagePdfDocumentReader("docs.pdf")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38912" y="400050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.read())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8912" y="423367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.forEach(vectorStore::add);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" y="470001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DocumentReaders: PDF, HTML, Markdown, TIKA, GitHub, YouTube…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Locales con Ollama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LLMs localmente — sin APIs externas, sin costos por token, sin enviar datos a la nube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09344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Total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nunca salen de tu infraestructura. Ideal para datos sensibles o entornos regulados.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4173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452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Costos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facturación por token. Perfecto para desarrollo, pruebas y batch processing.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15060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609344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API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Java es idéntico. Solo cambia el starter y las properties — cero refactor.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456432"/>
            <a:ext cx="8595360" cy="1572768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456432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35478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594360" y="35478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35478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3"/>
          <p:cNvSpPr/>
          <p:nvPr/>
        </p:nvSpPr>
        <p:spPr>
          <a:xfrm>
            <a:off x="438912" y="378561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application.properties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401878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spring.ai.ollama.base-url=http://localhost:11434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25196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spring.ai.ollama.chat.options.model=llama3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7183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ChatClient works exactly like with OpenAI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95147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 = chatClient.prompt().user("Hello!").call().content();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 Llama 3, Mistral, Phi-3, Gemma 2, CodeLlama, Qwen, DeepSeek…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179576"/>
            <a:ext cx="521208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Metrics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304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Latencia, tokens usados y errores exportados a Prometheus, DataDog, CloudWatch…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98755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22452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79576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37560" y="2304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Trazas con Micrometer Tracing (Zipkin, Jaeger) para el ciclo completo de cada request.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98755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715060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17957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304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/actuator/health y /actuator/metrics para monitorear el estado de los modelos en producción.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035808"/>
            <a:ext cx="8595360" cy="1993392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035808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3127248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3127248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36499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application.properties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8912" y="35981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management.endpoints.web.exposure.include=health,metrics,info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8313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management.tracing.sampling.probability=1.0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29768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 metrics available: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5308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spring.ai.chat.client.requests    (call counter)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76402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spring.ai.chat.client.tokens.input / .output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35" name="Text 29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 agregando spring-boot-starter-actuator + micrometer-registry-prometheus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estándar para conectar LLMs con herramientas y fuentes de datos externas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444752"/>
            <a:ext cx="2377440" cy="749808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444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15361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200400" y="1444752"/>
            <a:ext cx="2377440" cy="749808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444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77840" y="15361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035040" y="1444752"/>
            <a:ext cx="2377440" cy="749808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1444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23957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95728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6" name="Shape 13"/>
          <p:cNvSpPr/>
          <p:nvPr/>
        </p:nvSpPr>
        <p:spPr>
          <a:xfrm>
            <a:off x="1298448" y="2505456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587752"/>
            <a:ext cx="521208" cy="5212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404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11480" y="371246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incluye un cliente que conecta a cualquier servidor MCP compatible.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0" y="23957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0" y="2395728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2" name="Shape 18"/>
          <p:cNvSpPr/>
          <p:nvPr/>
        </p:nvSpPr>
        <p:spPr>
          <a:xfrm>
            <a:off x="4224528" y="2505456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587752"/>
            <a:ext cx="521208" cy="5212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1012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337560" y="371246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herramientas Java con @McpTool y McpSyncServerExchange.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26480" y="23957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26480" y="2395728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8" name="Shape 23"/>
          <p:cNvSpPr/>
          <p:nvPr/>
        </p:nvSpPr>
        <p:spPr>
          <a:xfrm>
            <a:off x="7150608" y="2505456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587752"/>
            <a:ext cx="521208" cy="5212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3620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263640" y="371246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Anthropic Claude Desktop, Cursor y cualquier cliente MCP estándar.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320" y="4325112"/>
            <a:ext cx="8595360" cy="749808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4320" y="4325112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4" name="Shape 28"/>
          <p:cNvSpPr/>
          <p:nvPr/>
        </p:nvSpPr>
        <p:spPr>
          <a:xfrm>
            <a:off x="411480" y="441655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5" name="Shape 29"/>
          <p:cNvSpPr/>
          <p:nvPr/>
        </p:nvSpPr>
        <p:spPr>
          <a:xfrm>
            <a:off x="594360" y="441655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6" name="Shape 30"/>
          <p:cNvSpPr/>
          <p:nvPr/>
        </p:nvSpPr>
        <p:spPr>
          <a:xfrm>
            <a:off x="777240" y="441655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7" name="Text 31"/>
          <p:cNvSpPr/>
          <p:nvPr/>
        </p:nvSpPr>
        <p:spPr>
          <a:xfrm>
            <a:off x="438912" y="465429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spring.ai.mcp.client.sse.connections.myServer.url=http://localhost:8080/mcp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Testing &amp; Evaluación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incluye utilidades para evaluar la calidad y relevancia de las respuestas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09344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RelevancyEvaluator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si la respuesta es relevante a la pregunta usando el LLM como juez.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452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FactCheckingEvaluator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la respuesta esté fundamentada en el contexto (anti-hallucination).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15060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609344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MockChatClient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respuestas del LLM en tests unitarios sin llamadas reales a APIs externas.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383280"/>
            <a:ext cx="8595360" cy="1901952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38328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347472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347472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3"/>
          <p:cNvSpPr/>
          <p:nvPr/>
        </p:nvSpPr>
        <p:spPr>
          <a:xfrm>
            <a:off x="438912" y="37124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9456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AiTest {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17880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RelevancyEvaluator evaluator;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41198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 void testRelevancy() {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6451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req = new EvaluationRequest("Capital of Mexico?",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8912" y="487832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List.of(), "Mexico City");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38912" y="511149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assertTrue(evaluator.evaluate(req).isPass());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38912" y="534466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Multimodalidad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texto, imágenes, audio y documentos al modelo — todo desde el mismo ChatClient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09344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(Imagen)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imágenes, capturas y diagramas. Compatible con GPT-4o Vision, Claude 3.5, Gemini.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452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Voz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(Speech-to-Text) y síntesis (TTS) con OpenAI Whisper y Azure Speech.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15060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609344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 PDFs y archivos como contexto directo en el prompt para análisis en línea.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383280"/>
            <a:ext cx="8595360" cy="182880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38328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347472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347472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3"/>
          <p:cNvSpPr/>
          <p:nvPr/>
        </p:nvSpPr>
        <p:spPr>
          <a:xfrm>
            <a:off x="438912" y="37124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Analyze an image with GPT-4o Vision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9456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media = new Media(MimeTypeUtils.IMAGE_PNG,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17880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new ClassPathResource("diagram.png"));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41198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chatClient.prompt()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6451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.user(u -&gt; u.text("What does this diagram show?")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8912" y="487832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.media(media))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38912" y="511149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.call().content();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Prácticas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335024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399032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1288" y="1124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Externaliza prompts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3192" y="1947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templates en archivos .st del classpath. Iteración sin recompilar.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46120" y="987552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987552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3429000" y="1335024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39903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33088" y="1124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Observabilidad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64992" y="1947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Micrometer desde el inicio. Monitorea latencia y tokens en cada entorno.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7920" y="987552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987552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1335024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39903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04888" y="1124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ChatMemory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36792" y="1947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JdbcChatMemory en producción. InMemory solo para desarrollo y tests.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74320" y="2971800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2971800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" y="3319272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38328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6128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en desarrollo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" y="393192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ni latencia de red. Cambia a cloud en producción con cero refactor.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46120" y="2971800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46120" y="2971800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1" name="Shape 24"/>
          <p:cNvSpPr/>
          <p:nvPr/>
        </p:nvSpPr>
        <p:spPr>
          <a:xfrm>
            <a:off x="3429000" y="3319272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38328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3308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AI Testing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364992" y="393192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RelevancyEvaluator en CI/CD para detectar regresiones en calidad de respuestas.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17920" y="2971800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0" y="2971800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7" name="Shape 29"/>
          <p:cNvSpPr/>
          <p:nvPr/>
        </p:nvSpPr>
        <p:spPr>
          <a:xfrm>
            <a:off x="6400800" y="3319272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3383280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10488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para portabilidad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336792" y="393192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ChatClient vía Spring. Nunca acoplar código al SDK de un proveedor.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4A8B2A">
              <a:alpha val="40000"/>
            </a:srgbClr>
          </a:solidFill>
          <a:ln w="12700">
            <a:solidFill>
              <a:srgbClr val="4A8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657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2560320" cy="457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 GA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docs.spring.io/spring-ai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github.com/spring-projects/spring-ai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960120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0" y="960120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6012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Portabilidad sobre +15 proveedores de 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1481328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0" y="148132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5" name="Text 12"/>
          <p:cNvSpPr/>
          <p:nvPr/>
        </p:nvSpPr>
        <p:spPr>
          <a:xfrm>
            <a:off x="4251960" y="148132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Integración nativa con Spring Boot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0" y="2002536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0" y="200253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8" name="Text 15"/>
          <p:cNvSpPr/>
          <p:nvPr/>
        </p:nvSpPr>
        <p:spPr>
          <a:xfrm>
            <a:off x="4251960" y="200253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Chat, RAG, Agents, Memory, Multimodal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0" y="2523744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0" y="2523744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1" name="Text 18"/>
          <p:cNvSpPr/>
          <p:nvPr/>
        </p:nvSpPr>
        <p:spPr>
          <a:xfrm>
            <a:off x="4251960" y="252374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Modelos locales con Ollama — cero refactor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0" y="3044952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0" y="3044952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4" name="Text 21"/>
          <p:cNvSpPr/>
          <p:nvPr/>
        </p:nvSpPr>
        <p:spPr>
          <a:xfrm>
            <a:off x="4251960" y="30449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Observabilidad con Micrometer desde el inicio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0" y="3566160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114800" y="3566160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7" name="Text 24"/>
          <p:cNvSpPr/>
          <p:nvPr/>
        </p:nvSpPr>
        <p:spPr>
          <a:xfrm>
            <a:off x="4251960" y="356616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Evaluadores para testing anti-hallucination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0" y="4087368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114800" y="4087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0" name="Text 27"/>
          <p:cNvSpPr/>
          <p:nvPr/>
        </p:nvSpPr>
        <p:spPr>
          <a:xfrm>
            <a:off x="4251960" y="40873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MCP: integración con cualquier tool externo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0" y="4608576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114800" y="460857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3" name="Text 30"/>
          <p:cNvSpPr/>
          <p:nvPr/>
        </p:nvSpPr>
        <p:spPr>
          <a:xfrm>
            <a:off x="4251960" y="460857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 PoC a producción sin reescribir código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</dc:title>
  <dc:subject>PptxGenJS Presentation</dc:subject>
  <dc:creator>PptxGenJS</dc:creator>
  <cp:lastModifiedBy>PptxGenJS</cp:lastModifiedBy>
  <cp:revision>1</cp:revision>
  <dcterms:created xsi:type="dcterms:W3CDTF">2026-05-19T18:38:40Z</dcterms:created>
  <dcterms:modified xsi:type="dcterms:W3CDTF">2026-05-19T18:38:40Z</dcterms:modified>
</cp:coreProperties>
</file>